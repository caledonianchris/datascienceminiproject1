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0" r:id="rId5"/>
    <p:sldId id="261" r:id="rId6"/>
    <p:sldId id="262" r:id="rId7"/>
    <p:sldId id="263" r:id="rId8"/>
    <p:sldId id="268"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020" autoAdjust="0"/>
  </p:normalViewPr>
  <p:slideViewPr>
    <p:cSldViewPr snapToGrid="0" snapToObjects="1">
      <p:cViewPr varScale="1">
        <p:scale>
          <a:sx n="47" d="100"/>
          <a:sy n="47" d="100"/>
        </p:scale>
        <p:origin x="1840"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BFA49E-EED9-4BD5-8AD9-F830310B82BB}" type="datetimeFigureOut">
              <a:rPr lang="en-NZ" smtClean="0"/>
              <a:t>18/12/2025</a:t>
            </a:fld>
            <a:endParaRPr lang="en-NZ"/>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58772E-6A2E-421C-B684-4B23DDB8B206}" type="slidenum">
              <a:rPr lang="en-NZ" smtClean="0"/>
              <a:t>‹#›</a:t>
            </a:fld>
            <a:endParaRPr lang="en-NZ"/>
          </a:p>
        </p:txBody>
      </p:sp>
    </p:spTree>
    <p:extLst>
      <p:ext uri="{BB962C8B-B14F-4D97-AF65-F5344CB8AC3E}">
        <p14:creationId xmlns:p14="http://schemas.microsoft.com/office/powerpoint/2010/main" val="1949737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Welcome to my mini project on the analysis of Amazon delivery times</a:t>
            </a:r>
          </a:p>
        </p:txBody>
      </p:sp>
      <p:sp>
        <p:nvSpPr>
          <p:cNvPr id="4" name="Slide Number Placeholder 3"/>
          <p:cNvSpPr>
            <a:spLocks noGrp="1"/>
          </p:cNvSpPr>
          <p:nvPr>
            <p:ph type="sldNum" sz="quarter" idx="5"/>
          </p:nvPr>
        </p:nvSpPr>
        <p:spPr/>
        <p:txBody>
          <a:bodyPr/>
          <a:lstStyle/>
          <a:p>
            <a:fld id="{5858772E-6A2E-421C-B684-4B23DDB8B206}" type="slidenum">
              <a:rPr lang="en-NZ" smtClean="0"/>
              <a:t>1</a:t>
            </a:fld>
            <a:endParaRPr lang="en-NZ"/>
          </a:p>
        </p:txBody>
      </p:sp>
    </p:spTree>
    <p:extLst>
      <p:ext uri="{BB962C8B-B14F-4D97-AF65-F5344CB8AC3E}">
        <p14:creationId xmlns:p14="http://schemas.microsoft.com/office/powerpoint/2010/main" val="1074115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I am presenting today on my findings from an Amazon delivery dataset. There are over 43 thousand observations and we are going to delve into my exploratory data analysis and visualising some of the data on a map.</a:t>
            </a:r>
          </a:p>
          <a:p>
            <a:endParaRPr lang="en-NZ" dirty="0"/>
          </a:p>
          <a:p>
            <a:r>
              <a:rPr lang="en-NZ" dirty="0"/>
              <a:t>When I come to the Jupiter Notebook, I will discuss templates and keeping things simple.</a:t>
            </a:r>
          </a:p>
        </p:txBody>
      </p:sp>
      <p:sp>
        <p:nvSpPr>
          <p:cNvPr id="4" name="Slide Number Placeholder 3"/>
          <p:cNvSpPr>
            <a:spLocks noGrp="1"/>
          </p:cNvSpPr>
          <p:nvPr>
            <p:ph type="sldNum" sz="quarter" idx="5"/>
          </p:nvPr>
        </p:nvSpPr>
        <p:spPr/>
        <p:txBody>
          <a:bodyPr/>
          <a:lstStyle/>
          <a:p>
            <a:fld id="{5858772E-6A2E-421C-B684-4B23DDB8B206}" type="slidenum">
              <a:rPr lang="en-NZ" smtClean="0"/>
              <a:t>2</a:t>
            </a:fld>
            <a:endParaRPr lang="en-NZ"/>
          </a:p>
        </p:txBody>
      </p:sp>
    </p:spTree>
    <p:extLst>
      <p:ext uri="{BB962C8B-B14F-4D97-AF65-F5344CB8AC3E}">
        <p14:creationId xmlns:p14="http://schemas.microsoft.com/office/powerpoint/2010/main" val="851373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Jasprit </a:t>
            </a:r>
            <a:r>
              <a:rPr lang="en-NZ" dirty="0" err="1"/>
              <a:t>Bumrah</a:t>
            </a:r>
            <a:r>
              <a:rPr lang="en-NZ" dirty="0"/>
              <a:t> has very speedy deliveries but, to paraphrase Star Wars, “these are not the speedy deliveries that you are looking for”! I’m not sure how I worked cricket and Star Wars into this presentation but I feel a childish delight in doing so!</a:t>
            </a:r>
          </a:p>
          <a:p>
            <a:endParaRPr lang="en-NZ" dirty="0"/>
          </a:p>
          <a:p>
            <a:pPr marL="0" indent="0">
              <a:buNone/>
            </a:pPr>
            <a:r>
              <a:rPr lang="en-GB" sz="1200" b="1" dirty="0"/>
              <a:t>Step 1: Data Preparation &amp; Quality Assessment</a:t>
            </a:r>
          </a:p>
          <a:p>
            <a:pPr marL="0" indent="0">
              <a:buNone/>
            </a:pPr>
            <a:r>
              <a:rPr lang="en-GB" sz="1200" dirty="0"/>
              <a:t>There was a fair bit of cleaning up the data. I:</a:t>
            </a:r>
          </a:p>
          <a:p>
            <a:pPr marL="171450" indent="-171450">
              <a:buFont typeface="Arial" panose="020B0604020202020204" pitchFamily="34" charset="0"/>
              <a:buChar char="•"/>
            </a:pPr>
            <a:r>
              <a:rPr lang="en-GB" sz="1200" dirty="0"/>
              <a:t>made all the columns lower case</a:t>
            </a:r>
          </a:p>
          <a:p>
            <a:pPr marL="171450" indent="-171450">
              <a:buFont typeface="Arial" panose="020B0604020202020204" pitchFamily="34" charset="0"/>
              <a:buChar char="•"/>
            </a:pPr>
            <a:r>
              <a:rPr lang="en-GB" sz="1200" dirty="0"/>
              <a:t>stripped whitespace from the beginning and end of strings</a:t>
            </a:r>
          </a:p>
          <a:p>
            <a:pPr marL="171450" indent="-171450">
              <a:buFont typeface="Arial" panose="020B0604020202020204" pitchFamily="34" charset="0"/>
              <a:buChar char="•"/>
            </a:pPr>
            <a:r>
              <a:rPr lang="en-GB" sz="1200" dirty="0"/>
              <a:t>replaced the string ‘</a:t>
            </a:r>
            <a:r>
              <a:rPr lang="en-GB" sz="1200" dirty="0" err="1"/>
              <a:t>NaN</a:t>
            </a:r>
            <a:r>
              <a:rPr lang="en-GB" sz="1200" dirty="0"/>
              <a:t>’ with another string</a:t>
            </a:r>
          </a:p>
          <a:p>
            <a:pPr marL="171450" indent="-171450">
              <a:buFont typeface="Arial" panose="020B0604020202020204" pitchFamily="34" charset="0"/>
              <a:buChar char="•"/>
            </a:pPr>
            <a:r>
              <a:rPr lang="en-GB" sz="1200" dirty="0"/>
              <a:t>There were minimal nulls in the dataset so I set their values to ‘Unknown’</a:t>
            </a:r>
          </a:p>
          <a:p>
            <a:pPr marL="171450" indent="-171450">
              <a:buFont typeface="Arial" panose="020B0604020202020204" pitchFamily="34" charset="0"/>
              <a:buChar char="•"/>
            </a:pPr>
            <a:r>
              <a:rPr lang="en-GB" sz="1200" dirty="0"/>
              <a:t>I converted the feature columns to a type called ‘category’ – this was a new data type to me (</a:t>
            </a:r>
            <a:r>
              <a:rPr lang="en-NZ" dirty="0"/>
              <a:t>in pandas, </a:t>
            </a:r>
            <a:r>
              <a:rPr lang="en-GB" b="1" dirty="0"/>
              <a:t>category</a:t>
            </a:r>
            <a:r>
              <a:rPr lang="en-GB" dirty="0"/>
              <a:t> is a special data type designed for columns that contain a </a:t>
            </a:r>
            <a:r>
              <a:rPr lang="en-GB" b="1" dirty="0"/>
              <a:t>limited set of repeated values</a:t>
            </a:r>
            <a:r>
              <a:rPr lang="en-GB" sz="1200" dirty="0"/>
              <a:t>). The Vehicle, weather and traffic features had up to 7 items, so they were natural fits.</a:t>
            </a:r>
          </a:p>
          <a:p>
            <a:pPr marL="0" indent="0">
              <a:buNone/>
            </a:pPr>
            <a:endParaRPr lang="en-GB" sz="1200" dirty="0"/>
          </a:p>
          <a:p>
            <a:pPr marL="0" indent="0">
              <a:buNone/>
            </a:pPr>
            <a:r>
              <a:rPr lang="en-GB" sz="1200" b="1" dirty="0"/>
              <a:t>Steps 2, 3, 4 and 5</a:t>
            </a:r>
          </a:p>
          <a:p>
            <a:pPr marL="0" indent="0">
              <a:buNone/>
            </a:pPr>
            <a:r>
              <a:rPr lang="en-GB" sz="1200" dirty="0"/>
              <a:t>I’ll show you my comparisons of vehicle types and delivery times.</a:t>
            </a:r>
          </a:p>
          <a:p>
            <a:pPr marL="0" indent="0">
              <a:buNone/>
            </a:pPr>
            <a:r>
              <a:rPr lang="en-GB" sz="1200" dirty="0"/>
              <a:t>I will also show you how weather impacted the delivery times, how traffic congestion effected the delivery times and a combination of these factors.</a:t>
            </a:r>
          </a:p>
          <a:p>
            <a:pPr marL="0" indent="0">
              <a:buNone/>
            </a:pPr>
            <a:endParaRPr lang="en-GB" sz="1200" dirty="0"/>
          </a:p>
          <a:p>
            <a:pPr marL="0" indent="0">
              <a:buNone/>
            </a:pPr>
            <a:r>
              <a:rPr lang="en-GB" sz="1200" b="1" dirty="0"/>
              <a:t>The last step</a:t>
            </a:r>
          </a:p>
          <a:p>
            <a:pPr marL="0" indent="0">
              <a:buNone/>
            </a:pPr>
            <a:r>
              <a:rPr lang="en-GB" sz="1200" dirty="0"/>
              <a:t>was to play with maps. You’ll see how I dropped the Amazon store location onto a map of the world. But which country will we be looking at?</a:t>
            </a:r>
          </a:p>
        </p:txBody>
      </p:sp>
      <p:sp>
        <p:nvSpPr>
          <p:cNvPr id="4" name="Slide Number Placeholder 3"/>
          <p:cNvSpPr>
            <a:spLocks noGrp="1"/>
          </p:cNvSpPr>
          <p:nvPr>
            <p:ph type="sldNum" sz="quarter" idx="5"/>
          </p:nvPr>
        </p:nvSpPr>
        <p:spPr/>
        <p:txBody>
          <a:bodyPr/>
          <a:lstStyle/>
          <a:p>
            <a:fld id="{5858772E-6A2E-421C-B684-4B23DDB8B206}" type="slidenum">
              <a:rPr lang="en-NZ" smtClean="0"/>
              <a:t>3</a:t>
            </a:fld>
            <a:endParaRPr lang="en-NZ"/>
          </a:p>
        </p:txBody>
      </p:sp>
    </p:spTree>
    <p:extLst>
      <p:ext uri="{BB962C8B-B14F-4D97-AF65-F5344CB8AC3E}">
        <p14:creationId xmlns:p14="http://schemas.microsoft.com/office/powerpoint/2010/main" val="411265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Vehicle Delivery Times</a:t>
            </a:r>
          </a:p>
          <a:p>
            <a:r>
              <a:rPr lang="en-GB" b="0" dirty="0"/>
              <a:t>You can see that there are 4 types of vehicle: bicycle, motorcycle, scooter and van.</a:t>
            </a:r>
          </a:p>
          <a:p>
            <a:endParaRPr lang="en-GB" b="1" dirty="0"/>
          </a:p>
          <a:p>
            <a:r>
              <a:rPr lang="en-GB" b="1" dirty="0"/>
              <a:t>1. Scooter and Van Are the Fastest (and Most Consistent)</a:t>
            </a:r>
          </a:p>
          <a:p>
            <a:r>
              <a:rPr lang="en-GB" dirty="0"/>
              <a:t>Both scooters and vans have </a:t>
            </a:r>
            <a:r>
              <a:rPr lang="en-GB" b="1" dirty="0"/>
              <a:t>median delivery times around 115 minutes</a:t>
            </a:r>
            <a:r>
              <a:rPr lang="en-GB" dirty="0"/>
              <a:t>. Their box plots show </a:t>
            </a:r>
            <a:r>
              <a:rPr lang="en-GB" b="1" dirty="0"/>
              <a:t>tight interquartile ranges</a:t>
            </a:r>
            <a:r>
              <a:rPr lang="en-GB" dirty="0"/>
              <a:t>, meaning delivery times are more predictable.</a:t>
            </a:r>
          </a:p>
          <a:p>
            <a:endParaRPr lang="en-NZ" dirty="0"/>
          </a:p>
          <a:p>
            <a:r>
              <a:rPr lang="en-GB" b="1" dirty="0"/>
              <a:t>2. Motorcycles Are Slower and More Variable</a:t>
            </a:r>
          </a:p>
          <a:p>
            <a:r>
              <a:rPr lang="en-GB" dirty="0"/>
              <a:t>Motorcycles have a </a:t>
            </a:r>
            <a:r>
              <a:rPr lang="en-GB" b="1" dirty="0"/>
              <a:t>higher median delivery time (~130 minutes)</a:t>
            </a:r>
            <a:r>
              <a:rPr lang="en-GB" dirty="0"/>
              <a:t> and a </a:t>
            </a:r>
            <a:r>
              <a:rPr lang="en-GB" b="1" dirty="0"/>
              <a:t>much wider spread</a:t>
            </a:r>
            <a:r>
              <a:rPr lang="en-GB" dirty="0"/>
              <a:t>.</a:t>
            </a:r>
          </a:p>
          <a:p>
            <a:r>
              <a:rPr lang="en-GB" dirty="0"/>
              <a:t>This might be because:</a:t>
            </a:r>
          </a:p>
          <a:p>
            <a:pPr marL="171450" indent="-171450">
              <a:buFont typeface="Arial" panose="020B0604020202020204" pitchFamily="34" charset="0"/>
              <a:buChar char="•"/>
            </a:pPr>
            <a:r>
              <a:rPr lang="en-GB" dirty="0"/>
              <a:t>They encounter more variable conditions.</a:t>
            </a:r>
          </a:p>
          <a:p>
            <a:pPr marL="171450" indent="-171450">
              <a:buFont typeface="Arial" panose="020B0604020202020204" pitchFamily="34" charset="0"/>
              <a:buChar char="•"/>
            </a:pPr>
            <a:r>
              <a:rPr lang="en-GB" dirty="0"/>
              <a:t>They may be used for longer-distance or more complex deliveries.</a:t>
            </a:r>
          </a:p>
          <a:p>
            <a:endParaRPr lang="en-NZ" dirty="0"/>
          </a:p>
          <a:p>
            <a:r>
              <a:rPr lang="en-NZ" dirty="0"/>
              <a:t>At this juncture I would suggest that I should have changed tack in my </a:t>
            </a:r>
            <a:r>
              <a:rPr lang="en-NZ" dirty="0" err="1"/>
              <a:t>anaylysis</a:t>
            </a:r>
            <a:r>
              <a:rPr lang="en-NZ" dirty="0"/>
              <a:t> and calculated the average speed of each vehicle type rather than delivery time – this would have been a better angle to attack things. We can use something called the Haversine Formula to calculate the distance travelled between two pairs of longitude and latitude. From that we can work out average speed for each delivery. Maybe next time.</a:t>
            </a:r>
          </a:p>
        </p:txBody>
      </p:sp>
      <p:sp>
        <p:nvSpPr>
          <p:cNvPr id="4" name="Slide Number Placeholder 3"/>
          <p:cNvSpPr>
            <a:spLocks noGrp="1"/>
          </p:cNvSpPr>
          <p:nvPr>
            <p:ph type="sldNum" sz="quarter" idx="5"/>
          </p:nvPr>
        </p:nvSpPr>
        <p:spPr/>
        <p:txBody>
          <a:bodyPr/>
          <a:lstStyle/>
          <a:p>
            <a:fld id="{5858772E-6A2E-421C-B684-4B23DDB8B206}" type="slidenum">
              <a:rPr lang="en-NZ" smtClean="0"/>
              <a:t>4</a:t>
            </a:fld>
            <a:endParaRPr lang="en-NZ"/>
          </a:p>
        </p:txBody>
      </p:sp>
    </p:spTree>
    <p:extLst>
      <p:ext uri="{BB962C8B-B14F-4D97-AF65-F5344CB8AC3E}">
        <p14:creationId xmlns:p14="http://schemas.microsoft.com/office/powerpoint/2010/main" val="2453536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effectLst/>
              </a:rPr>
              <a:t>Here we look at the impact of weather of vehicles.</a:t>
            </a:r>
          </a:p>
          <a:p>
            <a:endParaRPr lang="en-GB" b="1" dirty="0">
              <a:effectLst/>
            </a:endParaRPr>
          </a:p>
          <a:p>
            <a:r>
              <a:rPr lang="en-GB" b="1" dirty="0">
                <a:effectLst/>
              </a:rPr>
              <a:t>Everyone loves sunny weather</a:t>
            </a:r>
          </a:p>
          <a:p>
            <a:r>
              <a:rPr lang="en-GB" dirty="0">
                <a:effectLst/>
              </a:rPr>
              <a:t>Across motorcycles, scooters, and vans, sunny conditions consistently produce the </a:t>
            </a:r>
            <a:r>
              <a:rPr lang="en-GB" i="1" dirty="0">
                <a:effectLst/>
              </a:rPr>
              <a:t>lowest</a:t>
            </a:r>
            <a:r>
              <a:rPr lang="en-GB" dirty="0">
                <a:effectLst/>
              </a:rPr>
              <a:t> delivery times (≈ 90–105 minutes).</a:t>
            </a:r>
          </a:p>
          <a:p>
            <a:endParaRPr lang="en-GB" dirty="0">
              <a:effectLst/>
            </a:endParaRPr>
          </a:p>
          <a:p>
            <a:r>
              <a:rPr lang="en-GB" b="1" dirty="0">
                <a:effectLst/>
              </a:rPr>
              <a:t>Cloudy and Foggy conditions slow all vehicles similarly</a:t>
            </a:r>
          </a:p>
          <a:p>
            <a:r>
              <a:rPr lang="en-GB" dirty="0">
                <a:effectLst/>
              </a:rPr>
              <a:t>Motorcycles, scooters, and vans all show elevated medians around 130–140 minutes.</a:t>
            </a:r>
          </a:p>
          <a:p>
            <a:r>
              <a:rPr lang="en-GB" dirty="0">
                <a:effectLst/>
              </a:rPr>
              <a:t>Fog reduces visibility → cautious driving → slower speeds.</a:t>
            </a:r>
          </a:p>
          <a:p>
            <a:r>
              <a:rPr lang="en-GB" dirty="0">
                <a:effectLst/>
              </a:rPr>
              <a:t>Cloudy conditions likely correlate with higher congestion or moisture on roads.</a:t>
            </a:r>
          </a:p>
          <a:p>
            <a:r>
              <a:rPr lang="en-GB" dirty="0">
                <a:effectLst/>
              </a:rPr>
              <a:t>These conditions affect </a:t>
            </a:r>
            <a:r>
              <a:rPr lang="en-GB" i="1" dirty="0">
                <a:effectLst/>
              </a:rPr>
              <a:t>all</a:t>
            </a:r>
            <a:r>
              <a:rPr lang="en-GB" dirty="0">
                <a:effectLst/>
              </a:rPr>
              <a:t> vehicle types similarly, so switching vehicles won’t meaningfully improve performance.</a:t>
            </a:r>
          </a:p>
          <a:p>
            <a:endParaRPr lang="en-GB" dirty="0">
              <a:effectLst/>
            </a:endParaRPr>
          </a:p>
          <a:p>
            <a:r>
              <a:rPr lang="en-GB" b="1" dirty="0">
                <a:effectLst/>
              </a:rPr>
              <a:t>In the case of Sandstorms and Stormy weather: Two‑wheeled vehicles degrade more sharply</a:t>
            </a:r>
          </a:p>
          <a:p>
            <a:r>
              <a:rPr lang="en-GB" dirty="0">
                <a:effectLst/>
              </a:rPr>
              <a:t>Both plots show a clear pattern:</a:t>
            </a:r>
          </a:p>
          <a:p>
            <a:pPr marL="171450" indent="-171450">
              <a:buFont typeface="Arial" panose="020B0604020202020204" pitchFamily="34" charset="0"/>
              <a:buChar char="•"/>
            </a:pPr>
            <a:r>
              <a:rPr lang="en-GB" dirty="0">
                <a:effectLst/>
              </a:rPr>
              <a:t>Motorcycles and scooters jump from ~90–105 minutes (sunny) to ~120–130 minutes in sandstorms/stormy weather.</a:t>
            </a:r>
          </a:p>
          <a:p>
            <a:pPr marL="171450" indent="-171450">
              <a:buFont typeface="Arial" panose="020B0604020202020204" pitchFamily="34" charset="0"/>
              <a:buChar char="•"/>
            </a:pPr>
            <a:r>
              <a:rPr lang="en-GB" dirty="0">
                <a:effectLst/>
              </a:rPr>
              <a:t>Vans degrade less severely, staying around ~112–120 minutes.</a:t>
            </a:r>
          </a:p>
          <a:p>
            <a:endParaRPr lang="en-GB" b="1" dirty="0">
              <a:effectLst/>
            </a:endParaRPr>
          </a:p>
          <a:p>
            <a:r>
              <a:rPr lang="en-GB" b="1" dirty="0">
                <a:effectLst/>
              </a:rPr>
              <a:t>We can say that vans are the way to go in poor weather.</a:t>
            </a:r>
          </a:p>
          <a:p>
            <a:endParaRPr lang="en-GB" dirty="0">
              <a:effectLst/>
            </a:endParaRPr>
          </a:p>
          <a:p>
            <a:r>
              <a:rPr lang="en-GB" dirty="0">
                <a:effectLst/>
              </a:rPr>
              <a:t>There are only 91 observations (0.2%) where the weather is unknown. It is a small proportion and it is the only weather category associated with bicycles.</a:t>
            </a:r>
          </a:p>
        </p:txBody>
      </p:sp>
      <p:sp>
        <p:nvSpPr>
          <p:cNvPr id="4" name="Slide Number Placeholder 3"/>
          <p:cNvSpPr>
            <a:spLocks noGrp="1"/>
          </p:cNvSpPr>
          <p:nvPr>
            <p:ph type="sldNum" sz="quarter" idx="5"/>
          </p:nvPr>
        </p:nvSpPr>
        <p:spPr/>
        <p:txBody>
          <a:bodyPr/>
          <a:lstStyle/>
          <a:p>
            <a:fld id="{5858772E-6A2E-421C-B684-4B23DDB8B206}" type="slidenum">
              <a:rPr lang="en-NZ" smtClean="0"/>
              <a:t>5</a:t>
            </a:fld>
            <a:endParaRPr lang="en-NZ"/>
          </a:p>
        </p:txBody>
      </p:sp>
    </p:spTree>
    <p:extLst>
      <p:ext uri="{BB962C8B-B14F-4D97-AF65-F5344CB8AC3E}">
        <p14:creationId xmlns:p14="http://schemas.microsoft.com/office/powerpoint/2010/main" val="33837465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effectLst/>
              </a:rPr>
              <a:t>Here we look at how traffic effects the vehicles. </a:t>
            </a:r>
            <a:r>
              <a:rPr lang="en-GB" dirty="0">
                <a:effectLst/>
              </a:rPr>
              <a:t>The dataset only has observations for bicycles in “Unknown” traffic conditions so they can’t meaningfully contribute to any comparative insight.</a:t>
            </a:r>
          </a:p>
          <a:p>
            <a:endParaRPr lang="en-GB" b="1" dirty="0">
              <a:effectLst/>
            </a:endParaRPr>
          </a:p>
          <a:p>
            <a:r>
              <a:rPr lang="en-GB" b="1" dirty="0">
                <a:effectLst/>
              </a:rPr>
              <a:t>Motorcycles are generally slower than scooters and vans</a:t>
            </a:r>
          </a:p>
          <a:p>
            <a:r>
              <a:rPr lang="en-GB" dirty="0">
                <a:effectLst/>
              </a:rPr>
              <a:t>When you look across </a:t>
            </a:r>
            <a:r>
              <a:rPr lang="en-GB" i="1" dirty="0">
                <a:effectLst/>
              </a:rPr>
              <a:t>all</a:t>
            </a:r>
            <a:r>
              <a:rPr lang="en-GB" dirty="0">
                <a:effectLst/>
              </a:rPr>
              <a:t> traffic conditions, this is overwhelmingly true.</a:t>
            </a:r>
          </a:p>
          <a:p>
            <a:r>
              <a:rPr lang="en-GB" b="0" dirty="0">
                <a:effectLst/>
              </a:rPr>
              <a:t>Scooters and vans are always faster than motorcycles</a:t>
            </a:r>
            <a:r>
              <a:rPr lang="en-GB" b="0" dirty="0"/>
              <a:t> </a:t>
            </a:r>
          </a:p>
          <a:p>
            <a:r>
              <a:rPr lang="en-GB" b="0" dirty="0">
                <a:effectLst/>
              </a:rPr>
              <a:t>Scooters and vans are often tied or very close</a:t>
            </a:r>
            <a:endParaRPr lang="en-NZ" b="0" dirty="0">
              <a:effectLst/>
            </a:endParaRPr>
          </a:p>
          <a:p>
            <a:endParaRPr lang="en-NZ" b="0" dirty="0">
              <a:effectLst/>
            </a:endParaRPr>
          </a:p>
          <a:p>
            <a:r>
              <a:rPr lang="en-GB" dirty="0">
                <a:effectLst/>
              </a:rPr>
              <a:t>This is reinforced by the boxplot, where motorcycles show:</a:t>
            </a:r>
          </a:p>
          <a:p>
            <a:r>
              <a:rPr lang="en-GB" dirty="0">
                <a:effectLst/>
              </a:rPr>
              <a:t>Higher medians</a:t>
            </a:r>
          </a:p>
          <a:p>
            <a:r>
              <a:rPr lang="en-GB" dirty="0">
                <a:effectLst/>
              </a:rPr>
              <a:t>Wider spreads</a:t>
            </a:r>
          </a:p>
          <a:p>
            <a:r>
              <a:rPr lang="en-GB" dirty="0">
                <a:effectLst/>
              </a:rPr>
              <a:t>More variability</a:t>
            </a:r>
          </a:p>
          <a:p>
            <a:r>
              <a:rPr lang="en-GB" dirty="0">
                <a:effectLst/>
              </a:rPr>
              <a:t>More outliers</a:t>
            </a:r>
          </a:p>
          <a:p>
            <a:endParaRPr lang="en-GB" dirty="0">
              <a:effectLst/>
            </a:endParaRPr>
          </a:p>
          <a:p>
            <a:r>
              <a:rPr lang="en-GB" dirty="0">
                <a:effectLst/>
              </a:rPr>
              <a:t>Scooters and vans cluster lower and tighter</a:t>
            </a:r>
          </a:p>
          <a:p>
            <a:endParaRPr lang="en-GB" dirty="0">
              <a:effectLst/>
            </a:endParaRPr>
          </a:p>
          <a:p>
            <a:r>
              <a:rPr lang="en-GB" dirty="0">
                <a:effectLst/>
              </a:rPr>
              <a:t>Motorcycles are similar to scooters so, I must ask the question: why are vans more effective than motorcycles?</a:t>
            </a:r>
          </a:p>
        </p:txBody>
      </p:sp>
      <p:sp>
        <p:nvSpPr>
          <p:cNvPr id="4" name="Slide Number Placeholder 3"/>
          <p:cNvSpPr>
            <a:spLocks noGrp="1"/>
          </p:cNvSpPr>
          <p:nvPr>
            <p:ph type="sldNum" sz="quarter" idx="5"/>
          </p:nvPr>
        </p:nvSpPr>
        <p:spPr/>
        <p:txBody>
          <a:bodyPr/>
          <a:lstStyle/>
          <a:p>
            <a:fld id="{5858772E-6A2E-421C-B684-4B23DDB8B206}" type="slidenum">
              <a:rPr lang="en-NZ" smtClean="0"/>
              <a:t>6</a:t>
            </a:fld>
            <a:endParaRPr lang="en-NZ"/>
          </a:p>
        </p:txBody>
      </p:sp>
    </p:spTree>
    <p:extLst>
      <p:ext uri="{BB962C8B-B14F-4D97-AF65-F5344CB8AC3E}">
        <p14:creationId xmlns:p14="http://schemas.microsoft.com/office/powerpoint/2010/main" val="528259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1400"/>
            </a:pPr>
            <a:r>
              <a:rPr lang="en-NZ" dirty="0"/>
              <a:t>We now look at the combined effects of weather and traffic on vehicles</a:t>
            </a:r>
          </a:p>
          <a:p>
            <a:pPr>
              <a:defRPr sz="1400"/>
            </a:pPr>
            <a:endParaRPr lang="en-NZ" dirty="0"/>
          </a:p>
          <a:p>
            <a:pPr>
              <a:defRPr sz="1400"/>
            </a:pPr>
            <a:r>
              <a:rPr lang="en-NZ" dirty="0"/>
              <a:t>As mentioned before the data for bicycles is not worth mentioning because we do not have substantive data combined with weather and traffic.</a:t>
            </a:r>
          </a:p>
          <a:p>
            <a:pPr latinLnBrk="1"/>
            <a:endParaRPr lang="en-NZ" sz="1200" b="0" i="0" kern="1200" dirty="0">
              <a:solidFill>
                <a:schemeClr val="tx1"/>
              </a:solidFill>
              <a:effectLst/>
              <a:latin typeface="+mn-lt"/>
              <a:ea typeface="+mn-ea"/>
              <a:cs typeface="+mn-cs"/>
            </a:endParaRPr>
          </a:p>
          <a:p>
            <a:pPr latinLnBrk="1"/>
            <a:r>
              <a:rPr lang="en-GB" dirty="0"/>
              <a:t>The heatmap shows </a:t>
            </a:r>
            <a:r>
              <a:rPr lang="en-GB" b="0" dirty="0">
                <a:effectLst/>
              </a:rPr>
              <a:t>how the environment behaves</a:t>
            </a:r>
            <a:r>
              <a:rPr lang="en-GB" dirty="0"/>
              <a:t>, and the two bar charts show </a:t>
            </a:r>
            <a:r>
              <a:rPr lang="en-GB" b="0" dirty="0">
                <a:effectLst/>
              </a:rPr>
              <a:t>how each vehicle reacts to traffic or weather</a:t>
            </a:r>
            <a:r>
              <a:rPr lang="en-GB" dirty="0"/>
              <a:t>.</a:t>
            </a:r>
          </a:p>
          <a:p>
            <a:pPr latinLnBrk="1"/>
            <a:endParaRPr lang="en-GB" dirty="0"/>
          </a:p>
          <a:p>
            <a:r>
              <a:rPr lang="en-GB" b="1" dirty="0">
                <a:effectLst/>
              </a:rPr>
              <a:t>Key insights from the heatmap</a:t>
            </a:r>
          </a:p>
          <a:p>
            <a:r>
              <a:rPr lang="en-GB" b="1" dirty="0">
                <a:effectLst/>
              </a:rPr>
              <a:t>Traffic is the dominant driver of delay.</a:t>
            </a:r>
            <a:r>
              <a:rPr lang="en-GB" dirty="0">
                <a:effectLst/>
              </a:rPr>
              <a:t> Across all weather types, the jump from </a:t>
            </a:r>
            <a:r>
              <a:rPr lang="en-GB" i="1" dirty="0">
                <a:effectLst/>
              </a:rPr>
              <a:t>Low → Medium → High → Jam</a:t>
            </a:r>
            <a:r>
              <a:rPr lang="en-GB" dirty="0">
                <a:effectLst/>
              </a:rPr>
              <a:t> produces the steepest increases in delivery time.</a:t>
            </a:r>
          </a:p>
          <a:p>
            <a:r>
              <a:rPr lang="en-GB" b="1" dirty="0">
                <a:effectLst/>
              </a:rPr>
              <a:t>Fog + Jam is the worst combination.</a:t>
            </a:r>
            <a:r>
              <a:rPr lang="en-GB" dirty="0">
                <a:effectLst/>
              </a:rPr>
              <a:t> </a:t>
            </a:r>
          </a:p>
          <a:p>
            <a:r>
              <a:rPr lang="en-GB" b="1" dirty="0">
                <a:effectLst/>
              </a:rPr>
              <a:t>Sunny with Low/Medium traffic are consistently the fastest.</a:t>
            </a:r>
            <a:r>
              <a:rPr lang="en-GB" dirty="0">
                <a:effectLst/>
              </a:rPr>
              <a:t> </a:t>
            </a:r>
          </a:p>
          <a:p>
            <a:pPr latinLnBrk="1"/>
            <a:endParaRPr lang="en-NZ" dirty="0"/>
          </a:p>
          <a:p>
            <a:pPr latinLnBrk="1"/>
            <a:endParaRPr lang="en-NZ" dirty="0"/>
          </a:p>
          <a:p>
            <a:pPr latinLnBrk="1"/>
            <a:endParaRPr lang="en-NZ" dirty="0"/>
          </a:p>
          <a:p>
            <a:r>
              <a:rPr lang="en-GB" b="1" dirty="0">
                <a:effectLst/>
              </a:rPr>
              <a:t>Key insights from the bar graphs show that</a:t>
            </a:r>
          </a:p>
          <a:p>
            <a:r>
              <a:rPr lang="en-GB" b="1" dirty="0">
                <a:effectLst/>
              </a:rPr>
              <a:t>Motorcycles suffer the largest traffic penalty (+45.4 min).</a:t>
            </a:r>
            <a:r>
              <a:rPr lang="en-GB" dirty="0">
                <a:effectLst/>
              </a:rPr>
              <a:t> Despite being nimble, they slow down dramatically in heavy congestion.</a:t>
            </a:r>
          </a:p>
          <a:p>
            <a:r>
              <a:rPr lang="en-GB" b="1" dirty="0">
                <a:effectLst/>
              </a:rPr>
              <a:t>Scooters &amp; vans are quite similar with 37 and 36 minutes.</a:t>
            </a:r>
            <a:r>
              <a:rPr lang="en-GB" dirty="0">
                <a:effectLst/>
              </a:rPr>
              <a:t> Both degrade under traffic but not as severely as motorcycles.</a:t>
            </a:r>
          </a:p>
          <a:p>
            <a:endParaRPr lang="en-GB" b="1" dirty="0">
              <a:effectLst/>
            </a:endParaRPr>
          </a:p>
          <a:p>
            <a:r>
              <a:rPr lang="en-GB" b="1" dirty="0">
                <a:effectLst/>
              </a:rPr>
              <a:t>Scooters are the most weather‑sensitive (+30.8 min).</a:t>
            </a:r>
            <a:r>
              <a:rPr lang="en-GB" dirty="0">
                <a:effectLst/>
              </a:rPr>
              <a:t> </a:t>
            </a:r>
          </a:p>
          <a:p>
            <a:r>
              <a:rPr lang="en-GB" b="1" dirty="0">
                <a:effectLst/>
              </a:rPr>
              <a:t>Vans and motorcycles show moderate weather sensitivity (+29–23 min).</a:t>
            </a:r>
            <a:endParaRPr lang="en-GB" dirty="0">
              <a:effectLst/>
            </a:endParaRPr>
          </a:p>
          <a:p>
            <a:endParaRPr lang="en-GB" dirty="0">
              <a:effectLst/>
            </a:endParaRPr>
          </a:p>
        </p:txBody>
      </p:sp>
      <p:sp>
        <p:nvSpPr>
          <p:cNvPr id="4" name="Slide Number Placeholder 3"/>
          <p:cNvSpPr>
            <a:spLocks noGrp="1"/>
          </p:cNvSpPr>
          <p:nvPr>
            <p:ph type="sldNum" sz="quarter" idx="5"/>
          </p:nvPr>
        </p:nvSpPr>
        <p:spPr/>
        <p:txBody>
          <a:bodyPr/>
          <a:lstStyle/>
          <a:p>
            <a:fld id="{5858772E-6A2E-421C-B684-4B23DDB8B206}" type="slidenum">
              <a:rPr lang="en-NZ" smtClean="0"/>
              <a:t>7</a:t>
            </a:fld>
            <a:endParaRPr lang="en-NZ"/>
          </a:p>
        </p:txBody>
      </p:sp>
    </p:spTree>
    <p:extLst>
      <p:ext uri="{BB962C8B-B14F-4D97-AF65-F5344CB8AC3E}">
        <p14:creationId xmlns:p14="http://schemas.microsoft.com/office/powerpoint/2010/main" val="29754229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b="1" dirty="0"/>
              <a:t>✅ 1. Vehicle assignment should depend on the dominant constraint.</a:t>
            </a:r>
          </a:p>
          <a:p>
            <a:r>
              <a:rPr lang="en-GB" b="1" dirty="0"/>
              <a:t>High‑traffic zones:</a:t>
            </a:r>
            <a:r>
              <a:rPr lang="en-GB" dirty="0"/>
              <a:t> Vans or scooters outperform motorcycles because they degrade less under congestion.</a:t>
            </a:r>
          </a:p>
          <a:p>
            <a:r>
              <a:rPr lang="en-GB" b="1" dirty="0"/>
              <a:t>Bad‑weather periods (Fog/Stormy):</a:t>
            </a:r>
            <a:r>
              <a:rPr lang="en-GB" dirty="0"/>
              <a:t> Vans again are the safest bet; scooters degrade heavily.</a:t>
            </a:r>
          </a:p>
          <a:p>
            <a:pPr marL="0" indent="0">
              <a:buNone/>
            </a:pPr>
            <a:r>
              <a:rPr lang="en-GB" b="1" dirty="0"/>
              <a:t>✅ 2. Motorcycles excel only under optimal conditions.</a:t>
            </a:r>
          </a:p>
          <a:p>
            <a:r>
              <a:rPr lang="en-GB" dirty="0"/>
              <a:t>Low traffic + decent weather → motorcycles are fast.</a:t>
            </a:r>
          </a:p>
          <a:p>
            <a:r>
              <a:rPr lang="en-GB" dirty="0"/>
              <a:t>Anything else → they become the worst performer.</a:t>
            </a:r>
          </a:p>
          <a:p>
            <a:pPr marL="0" indent="0">
              <a:buNone/>
            </a:pPr>
            <a:r>
              <a:rPr lang="en-GB" b="1" dirty="0"/>
              <a:t>✅ 3. Scooters shine in good weather but collapse in bad weather.</a:t>
            </a:r>
          </a:p>
          <a:p>
            <a:r>
              <a:rPr lang="en-GB" dirty="0"/>
              <a:t>Sunny + High traffic are their </a:t>
            </a:r>
            <a:r>
              <a:rPr lang="en-GB" i="1" dirty="0"/>
              <a:t>best</a:t>
            </a:r>
            <a:r>
              <a:rPr lang="en-GB" dirty="0"/>
              <a:t> combination (79.9 min), which is counterintuitive but supported by your data.</a:t>
            </a:r>
          </a:p>
          <a:p>
            <a:pPr marL="0" indent="0">
              <a:buNone/>
            </a:pPr>
            <a:r>
              <a:rPr lang="en-GB" b="1" dirty="0"/>
              <a:t>✅ 4. Vans are the most stable across all conditions.</a:t>
            </a:r>
          </a:p>
          <a:p>
            <a:r>
              <a:rPr lang="en-GB" dirty="0"/>
              <a:t>They have the smallest combined penalty from traffic + weather.</a:t>
            </a:r>
          </a:p>
          <a:p>
            <a:r>
              <a:rPr lang="en-GB" dirty="0"/>
              <a:t>They’re the most reliable choice for consistent delivery times.</a:t>
            </a:r>
          </a:p>
        </p:txBody>
      </p:sp>
      <p:sp>
        <p:nvSpPr>
          <p:cNvPr id="4" name="Slide Number Placeholder 3"/>
          <p:cNvSpPr>
            <a:spLocks noGrp="1"/>
          </p:cNvSpPr>
          <p:nvPr>
            <p:ph type="sldNum" sz="quarter" idx="5"/>
          </p:nvPr>
        </p:nvSpPr>
        <p:spPr/>
        <p:txBody>
          <a:bodyPr/>
          <a:lstStyle/>
          <a:p>
            <a:fld id="{5858772E-6A2E-421C-B684-4B23DDB8B206}" type="slidenum">
              <a:rPr lang="en-NZ" smtClean="0"/>
              <a:t>8</a:t>
            </a:fld>
            <a:endParaRPr lang="en-NZ"/>
          </a:p>
        </p:txBody>
      </p:sp>
    </p:spTree>
    <p:extLst>
      <p:ext uri="{BB962C8B-B14F-4D97-AF65-F5344CB8AC3E}">
        <p14:creationId xmlns:p14="http://schemas.microsoft.com/office/powerpoint/2010/main" val="13837252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1600">
                <a:solidFill>
                  <a:srgbClr val="444444"/>
                </a:solidFill>
              </a:defRPr>
            </a:pPr>
            <a:r>
              <a:rPr lang="en-NZ" dirty="0"/>
              <a:t>I removed the observations where latitude and longitude were both zero – this position is somewhere off the west coast of Africa in the Gulf of Guinea.</a:t>
            </a:r>
          </a:p>
        </p:txBody>
      </p:sp>
      <p:sp>
        <p:nvSpPr>
          <p:cNvPr id="4" name="Slide Number Placeholder 3"/>
          <p:cNvSpPr>
            <a:spLocks noGrp="1"/>
          </p:cNvSpPr>
          <p:nvPr>
            <p:ph type="sldNum" sz="quarter" idx="5"/>
          </p:nvPr>
        </p:nvSpPr>
        <p:spPr/>
        <p:txBody>
          <a:bodyPr/>
          <a:lstStyle/>
          <a:p>
            <a:fld id="{5858772E-6A2E-421C-B684-4B23DDB8B206}" type="slidenum">
              <a:rPr lang="en-NZ" smtClean="0"/>
              <a:t>9</a:t>
            </a:fld>
            <a:endParaRPr lang="en-NZ"/>
          </a:p>
        </p:txBody>
      </p:sp>
    </p:spTree>
    <p:extLst>
      <p:ext uri="{BB962C8B-B14F-4D97-AF65-F5344CB8AC3E}">
        <p14:creationId xmlns:p14="http://schemas.microsoft.com/office/powerpoint/2010/main" val="3508279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sujalsuthar/amazon-delivery-datase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file:///C:\Users\caled\repos\DataScience\Mini%20Project%201\05_store_delivery_heatmap.html"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Boxes and roller conveyor">
            <a:extLst>
              <a:ext uri="{FF2B5EF4-FFF2-40B4-BE49-F238E27FC236}">
                <a16:creationId xmlns:a16="http://schemas.microsoft.com/office/drawing/2014/main" id="{8D77B367-5296-F5EA-5E72-8B690FCCB906}"/>
              </a:ext>
            </a:extLst>
          </p:cNvPr>
          <p:cNvPicPr>
            <a:picLocks noChangeAspect="1"/>
          </p:cNvPicPr>
          <p:nvPr/>
        </p:nvPicPr>
        <p:blipFill>
          <a:blip r:embed="rId3">
            <a:alphaModFix/>
          </a:blip>
          <a:srcRect/>
          <a:stretch>
            <a:fillRect/>
          </a:stretch>
        </p:blipFill>
        <p:spPr>
          <a:xfrm>
            <a:off x="20" y="10"/>
            <a:ext cx="9143979" cy="6857990"/>
          </a:xfrm>
          <a:prstGeom prst="rect">
            <a:avLst/>
          </a:prstGeom>
        </p:spPr>
      </p:pic>
      <p:sp>
        <p:nvSpPr>
          <p:cNvPr id="9" name="Rectangle 8">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19465" y="-2819458"/>
            <a:ext cx="3512260" cy="9151192"/>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71500" y="1137434"/>
            <a:ext cx="5850495" cy="1520987"/>
          </a:xfrm>
        </p:spPr>
        <p:txBody>
          <a:bodyPr anchor="t">
            <a:normAutofit/>
          </a:bodyPr>
          <a:lstStyle/>
          <a:p>
            <a:pPr algn="l">
              <a:defRPr sz="4000">
                <a:solidFill>
                  <a:srgbClr val="1F497D"/>
                </a:solidFill>
              </a:defRPr>
            </a:pPr>
            <a:r>
              <a:rPr lang="en-NZ" sz="3500" dirty="0">
                <a:solidFill>
                  <a:srgbClr val="FFFFFF"/>
                </a:solidFill>
              </a:rPr>
              <a:t>Amazon Delivery Analysis</a:t>
            </a:r>
          </a:p>
        </p:txBody>
      </p:sp>
      <p:sp>
        <p:nvSpPr>
          <p:cNvPr id="11" name="Rectangle 10">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355769" y="1075816"/>
            <a:ext cx="2425271" cy="9151191"/>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28650" y="4293441"/>
            <a:ext cx="4721499" cy="1588514"/>
          </a:xfrm>
        </p:spPr>
        <p:txBody>
          <a:bodyPr anchor="b">
            <a:normAutofit/>
          </a:bodyPr>
          <a:lstStyle/>
          <a:p>
            <a:pPr algn="l"/>
            <a:r>
              <a:rPr lang="en-GB" sz="1600" dirty="0">
                <a:solidFill>
                  <a:srgbClr val="FFFFFF"/>
                </a:solidFill>
              </a:rPr>
              <a:t>Statistical Analysis &amp; Geospatial Visualisation</a:t>
            </a:r>
          </a:p>
          <a:p>
            <a:pPr algn="l"/>
            <a:endParaRPr lang="en-GB" sz="1600" dirty="0">
              <a:solidFill>
                <a:srgbClr val="FFFFFF"/>
              </a:solidFill>
            </a:endParaRPr>
          </a:p>
          <a:p>
            <a:pPr algn="l"/>
            <a:r>
              <a:rPr lang="en-GB" sz="1600" dirty="0">
                <a:solidFill>
                  <a:srgbClr val="FFFFFF"/>
                </a:solidFill>
              </a:rPr>
              <a:t>Data Science Mini Project 1</a:t>
            </a:r>
          </a:p>
        </p:txBody>
      </p:sp>
      <p:cxnSp>
        <p:nvCxnSpPr>
          <p:cNvPr id="13" name="Straight Connector 12">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8855" y="871146"/>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4418"/>
    </mc:Choice>
    <mc:Fallback>
      <p:transition spd="slow" advTm="441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51AFEAC2-C8BB-9151-D022-6C28A744FADC}"/>
              </a:ext>
            </a:extLst>
          </p:cNvPr>
          <p:cNvGrpSpPr/>
          <p:nvPr/>
        </p:nvGrpSpPr>
        <p:grpSpPr>
          <a:xfrm>
            <a:off x="378527" y="741674"/>
            <a:ext cx="8254181" cy="1488046"/>
            <a:chOff x="378527" y="741674"/>
            <a:chExt cx="8254181" cy="1488046"/>
          </a:xfrm>
        </p:grpSpPr>
        <p:sp>
          <p:nvSpPr>
            <p:cNvPr id="6" name="TextBox 5">
              <a:extLst>
                <a:ext uri="{FF2B5EF4-FFF2-40B4-BE49-F238E27FC236}">
                  <a16:creationId xmlns:a16="http://schemas.microsoft.com/office/drawing/2014/main" id="{E2BDAD79-5898-5411-2B97-3E7AD2863F42}"/>
                </a:ext>
              </a:extLst>
            </p:cNvPr>
            <p:cNvSpPr txBox="1"/>
            <p:nvPr/>
          </p:nvSpPr>
          <p:spPr>
            <a:xfrm>
              <a:off x="378527" y="1306390"/>
              <a:ext cx="6849105" cy="923330"/>
            </a:xfrm>
            <a:prstGeom prst="rect">
              <a:avLst/>
            </a:prstGeom>
            <a:noFill/>
          </p:spPr>
          <p:txBody>
            <a:bodyPr wrap="none" lIns="108000" rtlCol="0">
              <a:spAutoFit/>
            </a:bodyPr>
            <a:lstStyle/>
            <a:p>
              <a:pPr marL="285750" indent="-285750">
                <a:buFont typeface="Arial" panose="020B0604020202020204" pitchFamily="34" charset="0"/>
                <a:buChar char="•"/>
              </a:pPr>
              <a:r>
                <a:rPr lang="en-GB" dirty="0">
                  <a:hlinkClick r:id="rId3"/>
                </a:rPr>
                <a:t>kaggle.com/datasets/sujalsuthar/amazon-delivery-dataset</a:t>
              </a:r>
              <a:endParaRPr lang="en-GB" dirty="0"/>
            </a:p>
            <a:p>
              <a:pPr marL="285750" indent="-285750">
                <a:buFont typeface="Arial" panose="020B0604020202020204" pitchFamily="34" charset="0"/>
                <a:buChar char="•"/>
              </a:pPr>
              <a:r>
                <a:rPr lang="en-GB" dirty="0"/>
                <a:t>Amazon Delivery Records (43,740 observations)</a:t>
              </a:r>
            </a:p>
            <a:p>
              <a:pPr marL="285750" indent="-285750">
                <a:buFont typeface="Arial" panose="020B0604020202020204" pitchFamily="34" charset="0"/>
                <a:buChar char="•"/>
              </a:pPr>
              <a:r>
                <a:rPr lang="en-GB" dirty="0"/>
                <a:t>Key Variables: Vehicle type, Weather, Traffic, Delivery time, Location</a:t>
              </a:r>
            </a:p>
          </p:txBody>
        </p:sp>
        <p:sp>
          <p:nvSpPr>
            <p:cNvPr id="23" name="Title 1">
              <a:extLst>
                <a:ext uri="{FF2B5EF4-FFF2-40B4-BE49-F238E27FC236}">
                  <a16:creationId xmlns:a16="http://schemas.microsoft.com/office/drawing/2014/main" id="{7DFDF9DC-540F-BE79-DCDE-CC7627DDD364}"/>
                </a:ext>
              </a:extLst>
            </p:cNvPr>
            <p:cNvSpPr txBox="1">
              <a:spLocks/>
            </p:cNvSpPr>
            <p:nvPr/>
          </p:nvSpPr>
          <p:spPr>
            <a:xfrm>
              <a:off x="403108" y="741674"/>
              <a:ext cx="8229600" cy="639762"/>
            </a:xfrm>
            <a:prstGeom prst="rect">
              <a:avLst/>
            </a:prstGeom>
          </p:spPr>
          <p:txBody>
            <a:bodyPr vert="horz" lIns="108000" tIns="45720" rIns="91440" bIns="45720"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defRPr>
                  <a:solidFill>
                    <a:srgbClr val="1F497D"/>
                  </a:solidFill>
                </a:defRPr>
              </a:pPr>
              <a:r>
                <a:rPr lang="en-NZ" dirty="0">
                  <a:solidFill>
                    <a:srgbClr val="1F497D"/>
                  </a:solidFill>
                </a:rPr>
                <a:t>Data</a:t>
              </a:r>
            </a:p>
          </p:txBody>
        </p:sp>
      </p:grpSp>
      <p:grpSp>
        <p:nvGrpSpPr>
          <p:cNvPr id="25" name="Group 24">
            <a:extLst>
              <a:ext uri="{FF2B5EF4-FFF2-40B4-BE49-F238E27FC236}">
                <a16:creationId xmlns:a16="http://schemas.microsoft.com/office/drawing/2014/main" id="{63C1307B-7FCC-A967-0189-7FDF165CC813}"/>
              </a:ext>
            </a:extLst>
          </p:cNvPr>
          <p:cNvGrpSpPr/>
          <p:nvPr/>
        </p:nvGrpSpPr>
        <p:grpSpPr>
          <a:xfrm>
            <a:off x="378527" y="2798833"/>
            <a:ext cx="8254181" cy="934048"/>
            <a:chOff x="378527" y="741674"/>
            <a:chExt cx="8254181" cy="934048"/>
          </a:xfrm>
        </p:grpSpPr>
        <p:sp>
          <p:nvSpPr>
            <p:cNvPr id="26" name="TextBox 25">
              <a:extLst>
                <a:ext uri="{FF2B5EF4-FFF2-40B4-BE49-F238E27FC236}">
                  <a16:creationId xmlns:a16="http://schemas.microsoft.com/office/drawing/2014/main" id="{42DE3B57-F2ED-23B4-3D75-B5F98C27E98B}"/>
                </a:ext>
              </a:extLst>
            </p:cNvPr>
            <p:cNvSpPr txBox="1"/>
            <p:nvPr/>
          </p:nvSpPr>
          <p:spPr>
            <a:xfrm>
              <a:off x="378527" y="1306390"/>
              <a:ext cx="8082391" cy="369332"/>
            </a:xfrm>
            <a:prstGeom prst="rect">
              <a:avLst/>
            </a:prstGeom>
            <a:noFill/>
          </p:spPr>
          <p:txBody>
            <a:bodyPr wrap="none" lIns="108000" rtlCol="0">
              <a:spAutoFit/>
            </a:bodyPr>
            <a:lstStyle/>
            <a:p>
              <a:pPr marL="285750" indent="-285750">
                <a:buFont typeface="Arial" panose="020B0604020202020204" pitchFamily="34" charset="0"/>
                <a:buChar char="•"/>
              </a:pPr>
              <a:r>
                <a:rPr lang="en-GB" dirty="0"/>
                <a:t>How do different vehicle types perform under varying environmental conditions?</a:t>
              </a:r>
            </a:p>
          </p:txBody>
        </p:sp>
        <p:sp>
          <p:nvSpPr>
            <p:cNvPr id="27" name="Title 1">
              <a:extLst>
                <a:ext uri="{FF2B5EF4-FFF2-40B4-BE49-F238E27FC236}">
                  <a16:creationId xmlns:a16="http://schemas.microsoft.com/office/drawing/2014/main" id="{C24112D2-7397-2A88-088F-51E6F28A8AF1}"/>
                </a:ext>
              </a:extLst>
            </p:cNvPr>
            <p:cNvSpPr txBox="1">
              <a:spLocks/>
            </p:cNvSpPr>
            <p:nvPr/>
          </p:nvSpPr>
          <p:spPr>
            <a:xfrm>
              <a:off x="403108" y="741674"/>
              <a:ext cx="8229600" cy="639762"/>
            </a:xfrm>
            <a:prstGeom prst="rect">
              <a:avLst/>
            </a:prstGeom>
          </p:spPr>
          <p:txBody>
            <a:bodyPr vert="horz" lIns="108000" tIns="45720" rIns="91440" bIns="45720"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defRPr>
                  <a:solidFill>
                    <a:srgbClr val="1F497D"/>
                  </a:solidFill>
                </a:defRPr>
              </a:pPr>
              <a:r>
                <a:rPr lang="en-NZ" dirty="0"/>
                <a:t>Problem statement</a:t>
              </a:r>
              <a:endParaRPr lang="en-NZ" dirty="0">
                <a:solidFill>
                  <a:srgbClr val="1F497D"/>
                </a:solidFill>
              </a:endParaRPr>
            </a:p>
          </p:txBody>
        </p:sp>
      </p:grpSp>
      <p:grpSp>
        <p:nvGrpSpPr>
          <p:cNvPr id="28" name="Group 27">
            <a:extLst>
              <a:ext uri="{FF2B5EF4-FFF2-40B4-BE49-F238E27FC236}">
                <a16:creationId xmlns:a16="http://schemas.microsoft.com/office/drawing/2014/main" id="{28AD03C1-4CE8-D301-AF06-7679C12DA7D4}"/>
              </a:ext>
            </a:extLst>
          </p:cNvPr>
          <p:cNvGrpSpPr/>
          <p:nvPr/>
        </p:nvGrpSpPr>
        <p:grpSpPr>
          <a:xfrm>
            <a:off x="378527" y="4301994"/>
            <a:ext cx="8254182" cy="1765045"/>
            <a:chOff x="378526" y="741674"/>
            <a:chExt cx="8254182" cy="1765045"/>
          </a:xfrm>
        </p:grpSpPr>
        <p:sp>
          <p:nvSpPr>
            <p:cNvPr id="29" name="TextBox 28">
              <a:extLst>
                <a:ext uri="{FF2B5EF4-FFF2-40B4-BE49-F238E27FC236}">
                  <a16:creationId xmlns:a16="http://schemas.microsoft.com/office/drawing/2014/main" id="{1D973482-01BA-F6F7-7B04-1FDDC2D05558}"/>
                </a:ext>
              </a:extLst>
            </p:cNvPr>
            <p:cNvSpPr txBox="1"/>
            <p:nvPr/>
          </p:nvSpPr>
          <p:spPr>
            <a:xfrm>
              <a:off x="378526" y="1306390"/>
              <a:ext cx="8067366" cy="1200329"/>
            </a:xfrm>
            <a:prstGeom prst="rect">
              <a:avLst/>
            </a:prstGeom>
            <a:noFill/>
          </p:spPr>
          <p:txBody>
            <a:bodyPr wrap="square" lIns="108000" rtlCol="0">
              <a:spAutoFit/>
            </a:bodyPr>
            <a:lstStyle/>
            <a:p>
              <a:pPr marL="285750" indent="-285750">
                <a:buFont typeface="Arial" panose="020B0604020202020204" pitchFamily="34" charset="0"/>
                <a:buChar char="•"/>
              </a:pPr>
              <a:r>
                <a:rPr lang="en-NZ" dirty="0"/>
                <a:t>Apply Exploratory Data Analysis (EDA) techniques</a:t>
              </a:r>
            </a:p>
            <a:p>
              <a:pPr marL="285750" indent="-285750">
                <a:buFont typeface="Arial" panose="020B0604020202020204" pitchFamily="34" charset="0"/>
                <a:buChar char="•"/>
              </a:pPr>
              <a:r>
                <a:rPr lang="en-NZ" dirty="0"/>
                <a:t>Implement statistical visualisation methods</a:t>
              </a:r>
            </a:p>
            <a:p>
              <a:pPr marL="285750" indent="-285750">
                <a:buFont typeface="Arial" panose="020B0604020202020204" pitchFamily="34" charset="0"/>
                <a:buChar char="•"/>
              </a:pPr>
              <a:r>
                <a:rPr lang="en-NZ" dirty="0"/>
                <a:t>Practice multi-factor analysis</a:t>
              </a:r>
            </a:p>
            <a:p>
              <a:pPr marL="285750" indent="-285750">
                <a:buFont typeface="Arial" panose="020B0604020202020204" pitchFamily="34" charset="0"/>
                <a:buChar char="•"/>
              </a:pPr>
              <a:r>
                <a:rPr lang="en-NZ" dirty="0"/>
                <a:t>Create geospatial data analysis and mapping</a:t>
              </a:r>
            </a:p>
          </p:txBody>
        </p:sp>
        <p:sp>
          <p:nvSpPr>
            <p:cNvPr id="30" name="Title 1">
              <a:extLst>
                <a:ext uri="{FF2B5EF4-FFF2-40B4-BE49-F238E27FC236}">
                  <a16:creationId xmlns:a16="http://schemas.microsoft.com/office/drawing/2014/main" id="{70385B2E-88CC-EE70-BA5E-8EEC6CDF8DF8}"/>
                </a:ext>
              </a:extLst>
            </p:cNvPr>
            <p:cNvSpPr txBox="1">
              <a:spLocks/>
            </p:cNvSpPr>
            <p:nvPr/>
          </p:nvSpPr>
          <p:spPr>
            <a:xfrm>
              <a:off x="403108" y="741674"/>
              <a:ext cx="8229600" cy="639762"/>
            </a:xfrm>
            <a:prstGeom prst="rect">
              <a:avLst/>
            </a:prstGeom>
          </p:spPr>
          <p:txBody>
            <a:bodyPr vert="horz" lIns="108000" tIns="45720" rIns="91440" bIns="45720"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defRPr>
                  <a:solidFill>
                    <a:srgbClr val="1F497D"/>
                  </a:solidFill>
                </a:defRPr>
              </a:pPr>
              <a:r>
                <a:rPr lang="en-GB" dirty="0">
                  <a:solidFill>
                    <a:srgbClr val="1F497D"/>
                  </a:solidFill>
                </a:rPr>
                <a:t>Objectives</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8665"/>
          </a:xfrm>
        </p:spPr>
        <p:txBody>
          <a:bodyPr>
            <a:normAutofit fontScale="90000"/>
          </a:bodyPr>
          <a:lstStyle/>
          <a:p>
            <a:pPr>
              <a:defRPr>
                <a:solidFill>
                  <a:srgbClr val="1F497D"/>
                </a:solidFill>
              </a:defRPr>
            </a:pPr>
            <a:r>
              <a:rPr lang="en-NZ" dirty="0"/>
              <a:t>6 steps to speedy delivery</a:t>
            </a:r>
            <a:endParaRPr dirty="0"/>
          </a:p>
        </p:txBody>
      </p:sp>
      <p:sp>
        <p:nvSpPr>
          <p:cNvPr id="3" name="Content Placeholder 2"/>
          <p:cNvSpPr>
            <a:spLocks noGrp="1"/>
          </p:cNvSpPr>
          <p:nvPr>
            <p:ph idx="1"/>
          </p:nvPr>
        </p:nvSpPr>
        <p:spPr>
          <a:xfrm>
            <a:off x="457199" y="1086499"/>
            <a:ext cx="4301613" cy="5065490"/>
          </a:xfrm>
        </p:spPr>
        <p:txBody>
          <a:bodyPr>
            <a:normAutofit fontScale="40000" lnSpcReduction="20000"/>
          </a:bodyPr>
          <a:lstStyle/>
          <a:p>
            <a:pPr marL="0" indent="0">
              <a:buNone/>
            </a:pPr>
            <a:r>
              <a:rPr lang="en-NZ" sz="3500" dirty="0"/>
              <a:t>Step</a:t>
            </a:r>
            <a:r>
              <a:rPr sz="3500" dirty="0"/>
              <a:t> 1: Data Preparation &amp; Quality Assessment</a:t>
            </a:r>
          </a:p>
          <a:p>
            <a:r>
              <a:rPr sz="3500" dirty="0"/>
              <a:t>Data cleaning, </a:t>
            </a:r>
            <a:r>
              <a:rPr lang="en-NZ" sz="3500" dirty="0"/>
              <a:t>standardisation</a:t>
            </a:r>
            <a:r>
              <a:rPr sz="3500" dirty="0"/>
              <a:t>, outlier detection</a:t>
            </a:r>
          </a:p>
          <a:p>
            <a:r>
              <a:rPr sz="3500" dirty="0"/>
              <a:t>Missing value analysis and treatment</a:t>
            </a:r>
          </a:p>
          <a:p>
            <a:pPr marL="0" indent="0">
              <a:buNone/>
            </a:pPr>
            <a:endParaRPr dirty="0"/>
          </a:p>
          <a:p>
            <a:pPr marL="0" indent="0">
              <a:buNone/>
            </a:pPr>
            <a:r>
              <a:rPr lang="en-NZ" sz="3500" dirty="0"/>
              <a:t>Step</a:t>
            </a:r>
            <a:r>
              <a:rPr sz="3500" dirty="0"/>
              <a:t> 2: Baseline Vehicle </a:t>
            </a:r>
            <a:r>
              <a:rPr lang="en-NZ" sz="3500" dirty="0"/>
              <a:t>Delivery Time</a:t>
            </a:r>
            <a:r>
              <a:rPr sz="3500" dirty="0"/>
              <a:t> Analysis</a:t>
            </a:r>
          </a:p>
          <a:p>
            <a:r>
              <a:rPr sz="3500" dirty="0"/>
              <a:t>Descriptive statistics, distribution analysis</a:t>
            </a:r>
          </a:p>
          <a:p>
            <a:r>
              <a:rPr sz="3500" dirty="0"/>
              <a:t>Box plots for central tendency comparison</a:t>
            </a:r>
          </a:p>
          <a:p>
            <a:pPr marL="0" indent="0">
              <a:buNone/>
            </a:pPr>
            <a:endParaRPr lang="en-NZ" dirty="0"/>
          </a:p>
          <a:p>
            <a:pPr marL="0" indent="0">
              <a:buNone/>
            </a:pPr>
            <a:r>
              <a:rPr lang="en-NZ" sz="3500" dirty="0"/>
              <a:t>Step</a:t>
            </a:r>
            <a:r>
              <a:rPr sz="3500" dirty="0"/>
              <a:t> 3: Weather Impact Analysis</a:t>
            </a:r>
          </a:p>
          <a:p>
            <a:r>
              <a:rPr sz="3500" dirty="0"/>
              <a:t>Categorical variable analysis</a:t>
            </a:r>
          </a:p>
          <a:p>
            <a:r>
              <a:rPr sz="3500" dirty="0"/>
              <a:t>Grouped statistical comparisons</a:t>
            </a:r>
          </a:p>
          <a:p>
            <a:pPr marL="0" indent="0">
              <a:buNone/>
            </a:pPr>
            <a:endParaRPr lang="en-NZ" dirty="0"/>
          </a:p>
          <a:p>
            <a:pPr marL="0" indent="0">
              <a:buNone/>
            </a:pPr>
            <a:r>
              <a:rPr lang="en-NZ" sz="3500" dirty="0"/>
              <a:t>Step</a:t>
            </a:r>
            <a:r>
              <a:rPr sz="3500" dirty="0"/>
              <a:t> 4: Traffic </a:t>
            </a:r>
            <a:r>
              <a:rPr lang="en-NZ" sz="3500" dirty="0"/>
              <a:t>Impact</a:t>
            </a:r>
            <a:r>
              <a:rPr sz="3500" dirty="0"/>
              <a:t> </a:t>
            </a:r>
            <a:r>
              <a:rPr lang="en-NZ" sz="3500" dirty="0"/>
              <a:t>Analysis</a:t>
            </a:r>
            <a:endParaRPr sz="3500" dirty="0"/>
          </a:p>
          <a:p>
            <a:r>
              <a:rPr sz="3500" dirty="0"/>
              <a:t>Multi-level categorical analysis</a:t>
            </a:r>
          </a:p>
          <a:p>
            <a:r>
              <a:rPr sz="3500" dirty="0"/>
              <a:t>Traffic impact quantification</a:t>
            </a:r>
          </a:p>
          <a:p>
            <a:pPr marL="0" indent="0">
              <a:buNone/>
            </a:pPr>
            <a:endParaRPr dirty="0"/>
          </a:p>
          <a:p>
            <a:pPr marL="0" indent="0">
              <a:buNone/>
            </a:pPr>
            <a:r>
              <a:rPr lang="en-NZ" sz="3500" dirty="0"/>
              <a:t>Step</a:t>
            </a:r>
            <a:r>
              <a:rPr sz="3500" dirty="0"/>
              <a:t> 5: Combined Conditions </a:t>
            </a:r>
            <a:r>
              <a:rPr lang="en-NZ" sz="3500" dirty="0"/>
              <a:t>Analysis</a:t>
            </a:r>
            <a:endParaRPr sz="3500" dirty="0"/>
          </a:p>
          <a:p>
            <a:r>
              <a:rPr sz="3500" dirty="0"/>
              <a:t>Heatmap </a:t>
            </a:r>
            <a:r>
              <a:rPr lang="en-NZ" sz="3500" dirty="0"/>
              <a:t>visualisation</a:t>
            </a:r>
            <a:r>
              <a:rPr sz="3500" dirty="0"/>
              <a:t>, correlation analysis</a:t>
            </a:r>
          </a:p>
          <a:p>
            <a:r>
              <a:rPr sz="3500" dirty="0"/>
              <a:t>Multi-factor interaction effects</a:t>
            </a:r>
          </a:p>
          <a:p>
            <a:pPr marL="0" indent="0">
              <a:buNone/>
            </a:pPr>
            <a:endParaRPr dirty="0"/>
          </a:p>
          <a:p>
            <a:pPr marL="0" indent="0">
              <a:buNone/>
            </a:pPr>
            <a:r>
              <a:rPr lang="en-NZ" sz="3500" dirty="0"/>
              <a:t>Step</a:t>
            </a:r>
            <a:r>
              <a:rPr sz="3500" dirty="0"/>
              <a:t> 6: Geospatial Analysis &amp; Interactive </a:t>
            </a:r>
            <a:r>
              <a:rPr lang="en-NZ" sz="3500" dirty="0"/>
              <a:t>Visualisation</a:t>
            </a:r>
          </a:p>
          <a:p>
            <a:r>
              <a:rPr lang="en-NZ" sz="3500" dirty="0"/>
              <a:t>Coordinate validation, spatial distribution mapping</a:t>
            </a:r>
          </a:p>
          <a:p>
            <a:r>
              <a:rPr sz="3500" dirty="0"/>
              <a:t>Interactive web-based </a:t>
            </a:r>
            <a:r>
              <a:rPr lang="en-NZ" sz="3500" dirty="0"/>
              <a:t>visualisation</a:t>
            </a:r>
            <a:endParaRPr sz="3500" dirty="0"/>
          </a:p>
        </p:txBody>
      </p:sp>
      <p:grpSp>
        <p:nvGrpSpPr>
          <p:cNvPr id="17" name="Group 16">
            <a:extLst>
              <a:ext uri="{FF2B5EF4-FFF2-40B4-BE49-F238E27FC236}">
                <a16:creationId xmlns:a16="http://schemas.microsoft.com/office/drawing/2014/main" id="{315FE567-32AF-0380-BA03-C8FF3FC8742A}"/>
              </a:ext>
            </a:extLst>
          </p:cNvPr>
          <p:cNvGrpSpPr/>
          <p:nvPr/>
        </p:nvGrpSpPr>
        <p:grpSpPr>
          <a:xfrm>
            <a:off x="6399908" y="1086499"/>
            <a:ext cx="2306382" cy="2342501"/>
            <a:chOff x="5878800" y="1086499"/>
            <a:chExt cx="2306382" cy="2342501"/>
          </a:xfrm>
        </p:grpSpPr>
        <p:pic>
          <p:nvPicPr>
            <p:cNvPr id="6" name="Picture 5" descr="A person throwing a ball&#10;&#10;AI-generated content may be incorrect.">
              <a:extLst>
                <a:ext uri="{FF2B5EF4-FFF2-40B4-BE49-F238E27FC236}">
                  <a16:creationId xmlns:a16="http://schemas.microsoft.com/office/drawing/2014/main" id="{F080EE6A-3140-404F-C7A8-D37F245CE437}"/>
                </a:ext>
              </a:extLst>
            </p:cNvPr>
            <p:cNvPicPr>
              <a:picLocks noChangeAspect="1"/>
            </p:cNvPicPr>
            <p:nvPr/>
          </p:nvPicPr>
          <p:blipFill>
            <a:blip r:embed="rId3"/>
            <a:srcRect l="20550" r="32140"/>
            <a:stretch>
              <a:fillRect/>
            </a:stretch>
          </p:blipFill>
          <p:spPr>
            <a:xfrm>
              <a:off x="5878800" y="1086499"/>
              <a:ext cx="2306382" cy="2342501"/>
            </a:xfrm>
            <a:prstGeom prst="rect">
              <a:avLst/>
            </a:prstGeom>
            <a:ln>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p:spPr>
        </p:pic>
        <p:cxnSp>
          <p:nvCxnSpPr>
            <p:cNvPr id="5" name="Straight Connector 4">
              <a:extLst>
                <a:ext uri="{FF2B5EF4-FFF2-40B4-BE49-F238E27FC236}">
                  <a16:creationId xmlns:a16="http://schemas.microsoft.com/office/drawing/2014/main" id="{269D0930-C694-F7EA-B1E1-8E6B6ECB7813}"/>
                </a:ext>
              </a:extLst>
            </p:cNvPr>
            <p:cNvCxnSpPr>
              <a:cxnSpLocks/>
            </p:cNvCxnSpPr>
            <p:nvPr/>
          </p:nvCxnSpPr>
          <p:spPr>
            <a:xfrm>
              <a:off x="5878800" y="1086499"/>
              <a:ext cx="2306382" cy="2342501"/>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EAF20BC2-E247-A3C0-FF06-E5D8955522DB}"/>
                </a:ext>
              </a:extLst>
            </p:cNvPr>
            <p:cNvCxnSpPr>
              <a:cxnSpLocks/>
            </p:cNvCxnSpPr>
            <p:nvPr/>
          </p:nvCxnSpPr>
          <p:spPr>
            <a:xfrm flipH="1">
              <a:off x="5878800" y="1086499"/>
              <a:ext cx="2306382" cy="2342501"/>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18" name="Group 17">
            <a:extLst>
              <a:ext uri="{FF2B5EF4-FFF2-40B4-BE49-F238E27FC236}">
                <a16:creationId xmlns:a16="http://schemas.microsoft.com/office/drawing/2014/main" id="{F335034D-DBF1-2D48-C647-B43EB559269A}"/>
              </a:ext>
            </a:extLst>
          </p:cNvPr>
          <p:cNvGrpSpPr/>
          <p:nvPr/>
        </p:nvGrpSpPr>
        <p:grpSpPr>
          <a:xfrm>
            <a:off x="5222062" y="3982064"/>
            <a:ext cx="3484228" cy="2169925"/>
            <a:chOff x="4700954" y="3982064"/>
            <a:chExt cx="3484228" cy="2169925"/>
          </a:xfrm>
        </p:grpSpPr>
        <p:pic>
          <p:nvPicPr>
            <p:cNvPr id="12" name="Picture 11" descr="A horse running on grass">
              <a:extLst>
                <a:ext uri="{FF2B5EF4-FFF2-40B4-BE49-F238E27FC236}">
                  <a16:creationId xmlns:a16="http://schemas.microsoft.com/office/drawing/2014/main" id="{6AF326E5-CCEB-989B-1EC2-3E459DECEB30}"/>
                </a:ext>
              </a:extLst>
            </p:cNvPr>
            <p:cNvPicPr>
              <a:picLocks noChangeAspect="1"/>
            </p:cNvPicPr>
            <p:nvPr/>
          </p:nvPicPr>
          <p:blipFill>
            <a:blip r:embed="rId4"/>
            <a:stretch>
              <a:fillRect/>
            </a:stretch>
          </p:blipFill>
          <p:spPr>
            <a:xfrm>
              <a:off x="4700954" y="3982064"/>
              <a:ext cx="3484228" cy="2169925"/>
            </a:xfrm>
            <a:prstGeom prst="rect">
              <a:avLst/>
            </a:prstGeom>
          </p:spPr>
        </p:pic>
        <p:cxnSp>
          <p:nvCxnSpPr>
            <p:cNvPr id="14" name="Straight Connector 13">
              <a:extLst>
                <a:ext uri="{FF2B5EF4-FFF2-40B4-BE49-F238E27FC236}">
                  <a16:creationId xmlns:a16="http://schemas.microsoft.com/office/drawing/2014/main" id="{9BC7DF57-4732-BCDC-F974-81DCE78FA62B}"/>
                </a:ext>
              </a:extLst>
            </p:cNvPr>
            <p:cNvCxnSpPr/>
            <p:nvPr/>
          </p:nvCxnSpPr>
          <p:spPr>
            <a:xfrm flipV="1">
              <a:off x="6056671" y="4286865"/>
              <a:ext cx="2005781" cy="1494503"/>
            </a:xfrm>
            <a:prstGeom prst="line">
              <a:avLst/>
            </a:prstGeom>
          </p:spPr>
          <p:style>
            <a:lnRef idx="3">
              <a:schemeClr val="accent3"/>
            </a:lnRef>
            <a:fillRef idx="0">
              <a:schemeClr val="accent3"/>
            </a:fillRef>
            <a:effectRef idx="2">
              <a:schemeClr val="accent3"/>
            </a:effectRef>
            <a:fontRef idx="minor">
              <a:schemeClr val="tx1"/>
            </a:fontRef>
          </p:style>
        </p:cxnSp>
        <p:cxnSp>
          <p:nvCxnSpPr>
            <p:cNvPr id="16" name="Straight Connector 15">
              <a:extLst>
                <a:ext uri="{FF2B5EF4-FFF2-40B4-BE49-F238E27FC236}">
                  <a16:creationId xmlns:a16="http://schemas.microsoft.com/office/drawing/2014/main" id="{2EB7E744-A1EA-C084-EF02-9C0C9F8DFF2A}"/>
                </a:ext>
              </a:extLst>
            </p:cNvPr>
            <p:cNvCxnSpPr/>
            <p:nvPr/>
          </p:nvCxnSpPr>
          <p:spPr>
            <a:xfrm>
              <a:off x="5171767" y="5270091"/>
              <a:ext cx="894736" cy="501445"/>
            </a:xfrm>
            <a:prstGeom prst="line">
              <a:avLst/>
            </a:prstGeom>
          </p:spPr>
          <p:style>
            <a:lnRef idx="3">
              <a:schemeClr val="accent3"/>
            </a:lnRef>
            <a:fillRef idx="0">
              <a:schemeClr val="accent3"/>
            </a:fillRef>
            <a:effectRef idx="2">
              <a:schemeClr val="accent3"/>
            </a:effectRef>
            <a:fontRef idx="minor">
              <a:schemeClr val="tx1"/>
            </a:fontRef>
          </p:style>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49639" y="274320"/>
            <a:ext cx="3444725" cy="523220"/>
          </a:xfrm>
          <a:prstGeom prst="rect">
            <a:avLst/>
          </a:prstGeom>
          <a:noFill/>
        </p:spPr>
        <p:txBody>
          <a:bodyPr wrap="none">
            <a:spAutoFit/>
          </a:bodyPr>
          <a:lstStyle/>
          <a:p>
            <a:pPr algn="ctr">
              <a:defRPr sz="2800">
                <a:solidFill>
                  <a:srgbClr val="1F497D"/>
                </a:solidFill>
              </a:defRPr>
            </a:pPr>
            <a:r>
              <a:rPr lang="en-NZ" dirty="0"/>
              <a:t>Vehicle</a:t>
            </a:r>
            <a:r>
              <a:rPr dirty="0"/>
              <a:t> </a:t>
            </a:r>
            <a:r>
              <a:rPr lang="en-NZ" dirty="0"/>
              <a:t>Delivery Times</a:t>
            </a:r>
            <a:endParaRPr dirty="0"/>
          </a:p>
        </p:txBody>
      </p:sp>
      <p:pic>
        <p:nvPicPr>
          <p:cNvPr id="3" name="Picture 2"/>
          <p:cNvPicPr>
            <a:picLocks noChangeAspect="1"/>
          </p:cNvPicPr>
          <p:nvPr/>
        </p:nvPicPr>
        <p:blipFill>
          <a:blip r:embed="rId3"/>
          <a:srcRect/>
          <a:stretch/>
        </p:blipFill>
        <p:spPr>
          <a:xfrm>
            <a:off x="334387" y="972000"/>
            <a:ext cx="8475226" cy="47392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23165" y="274320"/>
            <a:ext cx="5297669" cy="523220"/>
          </a:xfrm>
          <a:prstGeom prst="rect">
            <a:avLst/>
          </a:prstGeom>
          <a:noFill/>
        </p:spPr>
        <p:txBody>
          <a:bodyPr wrap="none">
            <a:spAutoFit/>
          </a:bodyPr>
          <a:lstStyle/>
          <a:p>
            <a:pPr algn="ctr">
              <a:defRPr sz="2800">
                <a:solidFill>
                  <a:srgbClr val="1F497D"/>
                </a:solidFill>
              </a:defRPr>
            </a:pPr>
            <a:r>
              <a:rPr dirty="0"/>
              <a:t>Weather Condition Impact Analysis</a:t>
            </a:r>
          </a:p>
        </p:txBody>
      </p:sp>
      <p:pic>
        <p:nvPicPr>
          <p:cNvPr id="3" name="Picture 2"/>
          <p:cNvPicPr>
            <a:picLocks noChangeAspect="1"/>
          </p:cNvPicPr>
          <p:nvPr/>
        </p:nvPicPr>
        <p:blipFill>
          <a:blip r:embed="rId3"/>
          <a:srcRect/>
          <a:stretch/>
        </p:blipFill>
        <p:spPr>
          <a:xfrm>
            <a:off x="180000" y="792000"/>
            <a:ext cx="5472000" cy="3094701"/>
          </a:xfrm>
          <a:prstGeom prst="rect">
            <a:avLst/>
          </a:prstGeom>
        </p:spPr>
      </p:pic>
      <p:pic>
        <p:nvPicPr>
          <p:cNvPr id="4" name="Picture 3"/>
          <p:cNvPicPr>
            <a:picLocks noChangeAspect="1"/>
          </p:cNvPicPr>
          <p:nvPr/>
        </p:nvPicPr>
        <p:blipFill>
          <a:blip r:embed="rId4"/>
          <a:srcRect/>
          <a:stretch/>
        </p:blipFill>
        <p:spPr>
          <a:xfrm>
            <a:off x="3096000" y="3960000"/>
            <a:ext cx="5760000" cy="28451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78643" y="274320"/>
            <a:ext cx="5786712" cy="523220"/>
          </a:xfrm>
          <a:prstGeom prst="rect">
            <a:avLst/>
          </a:prstGeom>
          <a:noFill/>
        </p:spPr>
        <p:txBody>
          <a:bodyPr wrap="none">
            <a:spAutoFit/>
          </a:bodyPr>
          <a:lstStyle/>
          <a:p>
            <a:pPr algn="ctr">
              <a:defRPr sz="2800">
                <a:solidFill>
                  <a:srgbClr val="1F497D"/>
                </a:solidFill>
              </a:defRPr>
            </a:pPr>
            <a:r>
              <a:rPr dirty="0"/>
              <a:t>Traffic Condition Performance Analysis</a:t>
            </a:r>
          </a:p>
        </p:txBody>
      </p:sp>
      <p:pic>
        <p:nvPicPr>
          <p:cNvPr id="3" name="Picture 2"/>
          <p:cNvPicPr>
            <a:picLocks noChangeAspect="1"/>
          </p:cNvPicPr>
          <p:nvPr/>
        </p:nvPicPr>
        <p:blipFill>
          <a:blip r:embed="rId3"/>
          <a:srcRect/>
          <a:stretch/>
        </p:blipFill>
        <p:spPr>
          <a:xfrm>
            <a:off x="180000" y="792001"/>
            <a:ext cx="5043919" cy="3342254"/>
          </a:xfrm>
          <a:prstGeom prst="rect">
            <a:avLst/>
          </a:prstGeom>
        </p:spPr>
      </p:pic>
      <p:pic>
        <p:nvPicPr>
          <p:cNvPr id="4" name="Picture 3"/>
          <p:cNvPicPr>
            <a:picLocks noChangeAspect="1"/>
          </p:cNvPicPr>
          <p:nvPr/>
        </p:nvPicPr>
        <p:blipFill>
          <a:blip r:embed="rId4"/>
          <a:srcRect/>
          <a:stretch/>
        </p:blipFill>
        <p:spPr>
          <a:xfrm>
            <a:off x="3246782" y="4032658"/>
            <a:ext cx="5613825" cy="27713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99207" y="274320"/>
            <a:ext cx="4945585" cy="523220"/>
          </a:xfrm>
          <a:prstGeom prst="rect">
            <a:avLst/>
          </a:prstGeom>
          <a:noFill/>
        </p:spPr>
        <p:txBody>
          <a:bodyPr wrap="none">
            <a:spAutoFit/>
          </a:bodyPr>
          <a:lstStyle/>
          <a:p>
            <a:pPr algn="ctr">
              <a:defRPr sz="2800">
                <a:solidFill>
                  <a:srgbClr val="1F497D"/>
                </a:solidFill>
              </a:defRPr>
            </a:pPr>
            <a:r>
              <a:rPr lang="en-GB" dirty="0"/>
              <a:t>Multi-Factor Interaction Analysis</a:t>
            </a:r>
          </a:p>
        </p:txBody>
      </p:sp>
      <p:pic>
        <p:nvPicPr>
          <p:cNvPr id="3" name="Picture 2"/>
          <p:cNvPicPr>
            <a:picLocks noChangeAspect="1"/>
          </p:cNvPicPr>
          <p:nvPr/>
        </p:nvPicPr>
        <p:blipFill>
          <a:blip r:embed="rId3"/>
          <a:srcRect/>
          <a:stretch/>
        </p:blipFill>
        <p:spPr>
          <a:xfrm>
            <a:off x="2378412" y="874559"/>
            <a:ext cx="4387174" cy="2752983"/>
          </a:xfrm>
          <a:prstGeom prst="rect">
            <a:avLst/>
          </a:prstGeom>
        </p:spPr>
      </p:pic>
      <p:pic>
        <p:nvPicPr>
          <p:cNvPr id="4" name="Picture 3"/>
          <p:cNvPicPr>
            <a:picLocks noChangeAspect="1"/>
          </p:cNvPicPr>
          <p:nvPr/>
        </p:nvPicPr>
        <p:blipFill>
          <a:blip r:embed="rId4"/>
          <a:srcRect/>
          <a:stretch/>
        </p:blipFill>
        <p:spPr>
          <a:xfrm>
            <a:off x="808382" y="3627542"/>
            <a:ext cx="7871791" cy="30964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solidFill>
                  <a:srgbClr val="1F497D"/>
                </a:solidFill>
              </a:defRPr>
            </a:pPr>
            <a:r>
              <a:rPr dirty="0"/>
              <a:t>Conclusion</a:t>
            </a:r>
          </a:p>
        </p:txBody>
      </p:sp>
      <p:sp>
        <p:nvSpPr>
          <p:cNvPr id="3" name="Content Placeholder 2"/>
          <p:cNvSpPr>
            <a:spLocks noGrp="1"/>
          </p:cNvSpPr>
          <p:nvPr>
            <p:ph idx="1"/>
          </p:nvPr>
        </p:nvSpPr>
        <p:spPr/>
        <p:txBody>
          <a:bodyPr>
            <a:normAutofit/>
          </a:bodyPr>
          <a:lstStyle/>
          <a:p>
            <a:r>
              <a:rPr lang="en-GB" i="1" dirty="0"/>
              <a:t>Motorcycles are most vulnerable to traffic</a:t>
            </a:r>
          </a:p>
          <a:p>
            <a:r>
              <a:rPr lang="en-GB" i="1" dirty="0"/>
              <a:t>Scooters are most vulnerable to weather</a:t>
            </a:r>
          </a:p>
          <a:p>
            <a:r>
              <a:rPr lang="en-GB" i="1" dirty="0"/>
              <a:t>Vans are the most balanced and predictable.</a:t>
            </a:r>
            <a:endParaRPr lang="en-GB" dirty="0"/>
          </a:p>
          <a:p>
            <a:endParaRPr lang="en-GB"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29643" y="274320"/>
            <a:ext cx="5284716" cy="523220"/>
          </a:xfrm>
          <a:prstGeom prst="rect">
            <a:avLst/>
          </a:prstGeom>
          <a:noFill/>
        </p:spPr>
        <p:txBody>
          <a:bodyPr wrap="none">
            <a:spAutoFit/>
          </a:bodyPr>
          <a:lstStyle/>
          <a:p>
            <a:pPr algn="ctr">
              <a:defRPr sz="2800">
                <a:solidFill>
                  <a:srgbClr val="1F497D"/>
                </a:solidFill>
              </a:defRPr>
            </a:pPr>
            <a:r>
              <a:rPr dirty="0"/>
              <a:t>Interactive Geospatial </a:t>
            </a:r>
            <a:r>
              <a:rPr lang="en-NZ" dirty="0"/>
              <a:t>Visualisation</a:t>
            </a:r>
            <a:endParaRPr dirty="0"/>
          </a:p>
        </p:txBody>
      </p:sp>
      <p:sp>
        <p:nvSpPr>
          <p:cNvPr id="3" name="TextBox 2"/>
          <p:cNvSpPr txBox="1"/>
          <p:nvPr/>
        </p:nvSpPr>
        <p:spPr>
          <a:xfrm>
            <a:off x="1583039" y="1371600"/>
            <a:ext cx="5977919" cy="369332"/>
          </a:xfrm>
          <a:prstGeom prst="rect">
            <a:avLst/>
          </a:prstGeom>
          <a:noFill/>
        </p:spPr>
        <p:txBody>
          <a:bodyPr wrap="none">
            <a:spAutoFit/>
          </a:bodyPr>
          <a:lstStyle/>
          <a:p>
            <a:pPr algn="ctr">
              <a:defRPr sz="1800">
                <a:solidFill>
                  <a:srgbClr val="4472C4"/>
                </a:solidFill>
              </a:defRPr>
            </a:pPr>
            <a:r>
              <a:rPr dirty="0"/>
              <a:t>Interactive HTML Heatmap: </a:t>
            </a:r>
            <a:r>
              <a:rPr lang="en-GB" dirty="0">
                <a:hlinkClick r:id="rId3"/>
              </a:rPr>
              <a:t>05_store_delivery_heatmap.html</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623</TotalTime>
  <Words>1422</Words>
  <Application>Microsoft Office PowerPoint</Application>
  <PresentationFormat>On-screen Show (4:3)</PresentationFormat>
  <Paragraphs>157</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Office Theme</vt:lpstr>
      <vt:lpstr>Amazon Delivery Analysis</vt:lpstr>
      <vt:lpstr>PowerPoint Presentation</vt:lpstr>
      <vt:lpstr>6 steps to speedy delivery</vt:lpstr>
      <vt:lpstr>PowerPoint Presentation</vt:lpstr>
      <vt:lpstr>PowerPoint Presentation</vt:lpstr>
      <vt:lpstr>PowerPoint Presentation</vt:lpstr>
      <vt:lpstr>PowerPoint Presentation</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Chris Andrews</cp:lastModifiedBy>
  <cp:revision>61</cp:revision>
  <dcterms:created xsi:type="dcterms:W3CDTF">2013-01-27T09:14:16Z</dcterms:created>
  <dcterms:modified xsi:type="dcterms:W3CDTF">2025-12-18T06:26:00Z</dcterms:modified>
  <cp:category/>
</cp:coreProperties>
</file>